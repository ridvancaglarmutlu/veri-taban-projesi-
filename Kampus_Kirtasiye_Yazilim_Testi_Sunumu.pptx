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6E4F"/>
                </a:solidFill>
                <a:latin typeface="Calibri"/>
              </a:rPr>
              <a:t>YEREL WEB SİTESİ TESTİ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Kampüs Kırtasiye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7F3EA"/>
                </a:solidFill>
                <a:latin typeface="Calibri"/>
              </a:rPr>
              <a:t>XAMPP üzerinde PHP sitesi
Playwright ile test, hata düzeltme ve regresyon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5D6CF"/>
                </a:solidFill>
                <a:latin typeface="Calibri"/>
              </a:rPr>
              <a:t>TechTarget: software testing = işlevi değerlendir, hata ve boşluk ara.
Rıdvan Çağlar Mutlu  ·  2514216055
Bilgisayar Programcılığı 2. Sınıf  ·  Yazılım Testi  ·  18 Ekim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26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B6E4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Projenin teslim kapsamı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Bize ait kaynak kod: PHP, HTML ve CSS (Kampüs Kırtasiye, Kampüs Sepeti değil)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Çalışan site: http://localhost/kampus-kirtasiye/v2/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Test uygulaması: http://localhost/kampus-kirtasiye/test-uygulamasi/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Otomasyon: Playwright grafik arayüzü (PLAYWRIGHT_AC.cmd)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Teslim: site, test kodu, V1/V2 sonucu ve bu sunum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Kampüs Kırtasiye uygulaması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27432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3D"/>
                </a:solidFill>
                <a:latin typeface="Calibri"/>
              </a:rPr>
              <a:t>6 ürün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D5C58"/>
                </a:solidFill>
                <a:latin typeface="Calibri"/>
              </a:rPr>
              <a:t>Kırtasiye + elektronik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7432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3D"/>
                </a:solidFill>
                <a:latin typeface="Calibri"/>
              </a:rPr>
              <a:t>Giriş ve sepet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D5C58"/>
                </a:solidFill>
                <a:latin typeface="Calibri"/>
              </a:rPr>
              <a:t>ridvan / Defter2026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7432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3D"/>
                </a:solidFill>
                <a:latin typeface="Calibri"/>
              </a:rPr>
              <a:t>Teslimat formu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D5C58"/>
                </a:solidFill>
                <a:latin typeface="Calibri"/>
              </a:rPr>
              <a:t>10 haneli telefon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74320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1031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A3D"/>
                </a:solidFill>
                <a:latin typeface="Calibri"/>
              </a:rPr>
              <a:t>Demo sipariş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2004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D5C58"/>
                </a:solidFill>
                <a:latin typeface="Calibri"/>
              </a:rPr>
              <a:t>Gerçek ödeme yok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XAMPP ve uygulama mimarisi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Kurulum: C:/xampp/htdocs/kampus-kirtasiye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Sunucu: Apache + PHP  ·  Kapı: /  Site: /v2/  Hatalı kanıt: /v1/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Veri: Ürünler PHP dizisinde, sepet $_SESSION içinde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Para: kuruş (int). Kampüs teslimatı her sepet için 14,90 TL</a:t>
            </a:r>
          </a:p>
          <a:p>
            <a:pPr>
              <a:spcAft>
                <a:spcPts val="900"/>
              </a:spcAft>
            </a:pPr>
            <a:r>
              <a:rPr sz="2000" b="0">
                <a:solidFill>
                  <a:srgbClr val="12202B"/>
                </a:solidFill>
                <a:latin typeface="Calibri"/>
              </a:rPr>
              <a:t>▸  Akış: Tarayıcı isteği → Apache/PHP → HTML yanıtı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TechTarget tanımı ve bitirme ölçütü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Software testing: yazılımın işlevini değerlendirmek; hata, boşluk ve beklenen-sonuç farkını aramak.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Amaç: canlıya çıkmadan (derste teslimden önce) hatayı kapatmak.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Giriş: doğru bilgi kabul, hatalı / kilitli hesap ret.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Sepet: doğru ürün, adet, 14,90 TL kargo ve toplam.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Form: zorunlu alanlar ve tam 10 rakamlı telefon.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Sipariş: boş sepet ilerlemez; ürünlü sepet ilerler.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Test teknikleri ve test verileri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863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Teknik (TechTarget)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Girdi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Beklenti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Fonksiyonel / kara kutu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ridvan / Defter2026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Giriş kabul, 6 ürün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Negatif test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Yanlış şifre / boş alan / mezun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Uyarı ve giriş engeli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Sınır komşuları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9 / 10 / 11 haneli telefon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Ret / kabul / 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Regresyon (atlanmamalı)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Düzeltme sonrası aynı 15 test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Eski işlevler korunur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Senaryolar: Giriş ve raf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655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Beklenen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Boş giriş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Kullanıcı adı uyarısı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T02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Yanlış şifre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Giriş reddi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Geçerli giriş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6 ürün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T04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Kırtasiye filtresi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4 ürün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Başarısız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Defter ekleme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1 adet, 54,90 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Senaryolar: Sepet ve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655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Beklenen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Defteri kaldır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0 ürün, 0,00 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T07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Boş teslimat formu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Ad uyarısı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Kilitli hesap (mezun)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Giriş reddi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T09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Boş şifre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Şifre uyarısı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Defter + USB + kargo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398,80 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Senaryolar: Sipariş ve sınırlar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655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Senaryo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Beklenen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10 haneli telefon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Sipariş tamamlandı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T12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Boş sepet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Teslimat engeli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Başarısız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9 haneli telefon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Formda uyarı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T14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11 haneli telefon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Formda uyarı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T15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Çıkış sonrası raf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Giriş sayfası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Playwright yerel siteye nasıl bağlanır?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4206240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use: {
  baseURL: 'http://localhost/kampus-kirtasiye/v2/',
  channel: 'chrome',
  viewport: { width: 1366, height: 900 },
  screenshot: 'only-on-failure',
  trace: 'retain-on-failure'
}
test.beforeEach(async ({ page }) =&gt; {
  await page.goto('index.php?sayfa=giris');
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D5C58"/>
                </a:solidFill>
                <a:latin typeface="Calibri"/>
              </a:rPr>
              <a:t>Aynı kod V1 ve V2 üzerinde, 1 worker ve 0 retry ile çalıştı.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Giriş testi ve doğrulama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3474720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test('T02 Yanlis sifre reddedilir', async ({ page }) =&gt; {
  await giris(page, 'ridvan', 'yanlis123');
  await expect(page.getByTestId('error'))
    .toHaveText('Kullanıcı adı veya şifre hatalı.');
  await expect(page).toHaveURL(/sayfa=giris/);
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202B"/>
                </a:solidFill>
                <a:latin typeface="Calibri"/>
              </a:rPr>
              <a:t>Tıklama işlemdir. expect, işlemin doğru sonuç verdiğini kontrol eder.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Kategori filtresini kodla kontrol etme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3474720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await page.getByLabel('Kategori').selectOption('kirtasiye');
await expect(page).toHaveURL(/kategori=kirtasiye/);
await expect(page.getByTestId('product')).toHaveCount(4);
await expect(page.getByTestId('product-count'))
  .toHaveText('4 ürün listeleniyor');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202B"/>
                </a:solidFill>
                <a:latin typeface="Calibri"/>
              </a:rPr>
              <a:t>Filtrenin görünmesi yetmez; ürün sayısı da 4 olmalıdır.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Telefon: PHP kuralı ve sınır testi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3749039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52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if (!preg_match('/^[0-9]{10}$/D', $telefon)) {
    $error = 'Telefon numarası 10 rakamdan oluşmalıdır.';
}
await bilgileriGir(page, '05551234567');
await expect(page.getByTestId('error'))
  .toHaveText('Telefon numarası 10 rakamdan oluşmalıdır.');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6E4F"/>
                </a:solidFill>
                <a:latin typeface="Calibri"/>
              </a:rPr>
              <a:t>9 hane: ret  /  10 hane: kabul  /  11 hane: ret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Para hesabı: Tam sayı kuruş + teslimat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3840480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62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1 =&gt; ['ad' =&gt; 'A4 Spiralli Defter', 'fiyat' =&gt; 5490],
4 =&gt; ['ad' =&gt; '64GB USB Bellek', 'fiyat' =&gt; 32900],
teslimat = 1490
expect(araToplam).toBe(5490 + 32900);
expect(teslimat).toBe(1490);
expect(toplam).toBe(39880);
await expect(page.getByTestId('total')).toHaveText('398,80 TL');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6E4F"/>
                </a:solidFill>
                <a:latin typeface="Calibri"/>
              </a:rPr>
              <a:t>5490 + 32900 + 1490 = 39880 kuruş = 398,80 TL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V1 sonuçları: İki başarısız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61F2B"/>
                </a:solidFill>
                <a:latin typeface="Calibri"/>
              </a:rPr>
              <a:t>13 geçti / 2 başarısız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D5C58"/>
                </a:solidFill>
                <a:latin typeface="Calibri"/>
              </a:rPr>
              <a:t>TechTarget: hatayı teslimden önce bul.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2202B"/>
                </a:solidFill>
                <a:latin typeface="Calibri"/>
              </a:rPr>
              <a:t>▸  T04: kirtasiye seçeneği tarayıcıda oluşmadı.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2202B"/>
                </a:solidFill>
                <a:latin typeface="Calibri"/>
              </a:rPr>
              <a:t>▸  T12: 0 ürünle teslimat formu açıldı.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2202B"/>
                </a:solidFill>
                <a:latin typeface="Calibri"/>
              </a:rPr>
              <a:t>▸  Kanıt: hata mesajı, ekran görüntüsü ve trace.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2202B"/>
                </a:solidFill>
                <a:latin typeface="Calibri"/>
              </a:rPr>
              <a:t>▸  Süre 33,9 sn; bir bölümü T04 beklemesi.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H01: Yanlış kapanan option etiketi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3840480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62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&lt;!-- V1: Yeni seçenek açılmıyor --&gt;
&lt;/option value="kirtasiye"&gt;Yalnız kırtasiye
&lt;!-- V2: Önceki seçenek kapanıyor, yenisi açılıyor --&gt;
&lt;option value="kirtasiye"&gt;Yalnız kırtasiye&lt;/option&gt;
await page.getByLabel('Kategori').selectOption('kirtasiye');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3D"/>
                </a:solidFill>
                <a:latin typeface="Calibri"/>
              </a:rPr>
              <a:t>V1: T04 başarısız  /  HTML düzeltmesinden sonra V2: T04 geçti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H02: Boş sepetle teslimat formuna geçiş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17</a:t>
            </a:r>
          </a:p>
        </p:txBody>
      </p:sp>
      <p:pic>
        <p:nvPicPr>
          <p:cNvPr id="9" name="Picture 8" descr="v1-bos-tesli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794760"/>
          </a:xfrm>
          <a:prstGeom prst="rect">
            <a:avLst/>
          </a:prstGeom>
        </p:spPr>
      </p:pic>
      <p:pic>
        <p:nvPicPr>
          <p:cNvPr id="10" name="Picture 9" descr="sepet-bos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669280" cy="3794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029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61F2B"/>
                </a:solidFill>
                <a:latin typeface="Calibri"/>
              </a:rPr>
              <a:t>V1: Teslimat formu açıldı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029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7A4D"/>
                </a:solidFill>
                <a:latin typeface="Calibri"/>
              </a:rPr>
              <a:t>V2: Sepette uyarı çıktı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H02 düzeltmesi: PHP tarafında kontrol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3840480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62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if (in_array($sayfa, ['teslimat', 'onay'], true)
    &amp;&amp; sepet_adet() === 0) {
    flash('Sepetiniz boş. Teslimata geçmeden önce bir ürün ekleyin.');
    git('sepet');
}
// Aynı kontrol sipariş POST işlemine de eklendi.
// Kontrol yalnızca tarayıcı düğmesine bırakılmadı.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2202B"/>
                </a:solidFill>
                <a:latin typeface="Calibri"/>
              </a:rPr>
              <a:t>Düzeltme site kodunda yapıldı; testin beklediği sonuç korunarak yeniden çalıştırıldı.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T12: Düzeltmeyi aynı testle doğrulama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338560" cy="3931920"/>
          </a:xfrm>
          <a:prstGeom prst="roundRect">
            <a:avLst>
              <a:gd name="adj" fmla="val 8000"/>
            </a:avLst>
          </a:prstGeom>
          <a:solidFill>
            <a:srgbClr val="102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71016"/>
            <a:ext cx="11018520" cy="371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7F3EA"/>
                </a:solidFill>
                <a:latin typeface="Consolas"/>
              </a:rPr>
              <a:t>await giris(page);
await page.getByTestId('cart-link').click();
await expect(page.getByTestId('cart-item')).toHaveCount(0);
await page.getByTestId('checkout').click();
await expect(page).toHaveURL(/sayfa=sepet/);
await expect(page.getByTestId('error'))
  .toHaveText('Sepetiniz boş. Teslimata geçmeden önce bir ürün ekleyin.');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3D"/>
                </a:solidFill>
                <a:latin typeface="Calibri"/>
              </a:rPr>
              <a:t>Aynı adımlar + aynı beklenti + düzeltilmiş site = başarılı yeniden 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V2 ve regresyon sonuçları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7086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Koşu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Geçti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Başarısız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Süre</a:t>
                      </a:r>
                    </a:p>
                  </a:txBody>
                  <a:tcPr>
                    <a:solidFill>
                      <a:srgbClr val="0F2A3D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V1 ilk sürüm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33,9 sn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V2 düzeltilmiş sürüm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7,8 sn</a:t>
                      </a:r>
                    </a:p>
                  </a:txBody>
                  <a:tcPr>
                    <a:solidFill>
                      <a:srgbClr val="DCE8E3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Playwright UI teyidi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202B"/>
                          </a:solidFill>
                          <a:latin typeface="Calibri"/>
                        </a:rPr>
                        <a:t>Ayrı koşu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2976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D5C58"/>
                </a:solidFill>
                <a:latin typeface="Calibri"/>
              </a:rPr>
              <a:t>TechTarget: regresyon atlanmamalı. Süre farkı performans testi değildir;
V1 hata bekleme süresi içerir.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Test uygulamasındaki sonuç kanıtı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21</a:t>
            </a:r>
          </a:p>
        </p:txBody>
      </p:sp>
      <p:pic>
        <p:nvPicPr>
          <p:cNvPr id="9" name="Picture 8" descr="test-son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766560" cy="5212080"/>
          </a:xfrm>
          <a:prstGeom prst="rect">
            <a:avLst/>
          </a:prstGeom>
        </p:spPr>
      </p:pic>
      <p:pic>
        <p:nvPicPr>
          <p:cNvPr id="10" name="Picture 9" descr="r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51560"/>
            <a:ext cx="47091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Derste canlı gösterim sırası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2202B"/>
                </a:solidFill>
                <a:latin typeface="Calibri"/>
              </a:rPr>
              <a:t>1. XAMPP: Apache açık, localhost/kampus-kirtasiye sitesine giriş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2202B"/>
                </a:solidFill>
                <a:latin typeface="Calibri"/>
              </a:rPr>
              <a:t>2. PLAYWRIGHT_AC.cmd: Run all ile testleri başlat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2202B"/>
                </a:solidFill>
                <a:latin typeface="Calibri"/>
              </a:rPr>
              <a:t>3. İlk rapor (V1): T04 ve T12 başarısızlığını göster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0060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2202B"/>
                </a:solidFill>
                <a:latin typeface="Calibri"/>
              </a:rPr>
              <a:t>4. Son rapor ve kod: Düzeltmeyi açıklayıp karşılaştır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841248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Kapsam, sınırlamalar ve kaynaklar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F3EA"/>
                </a:solidFill>
                <a:latin typeface="Calibri"/>
              </a:rPr>
              <a:t>Kampüs Kırtasiye  ·  TechTarget software testing  ·  Rıdvan Çağlar Mutlu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6019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B6E4F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15/15 sonuç yalnızca seçilen test kapsamını gösterir.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Yük, kapsamlı güvenlik ve mobil testleri yapılmadı.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Teori: TechTarget — What is software testing? Definition, types and importance.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https://www.techtarget.com/whatis/definition/software-testing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2202B"/>
                </a:solidFill>
                <a:latin typeface="Calibri"/>
              </a:rPr>
              <a:t>▸  Teknik: Playwright, PHP ve XAMPP resmî belgeleri.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