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Calibri"/>
              </a:rPr>
              <a:t>YEREL WEB SİTESİ TESTİ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Kampüs Kırtasiye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4EFE4"/>
                </a:solidFill>
                <a:latin typeface="Calibri"/>
              </a:rPr>
              <a:t>XAMPP üzerinde PHP kırtasiye rafı  ·  Playwright ile 15 senaryo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9D0DC"/>
                </a:solidFill>
                <a:latin typeface="Calibri"/>
              </a:rPr>
              <a:t>Hata ayıklama, düzeltme ve regresyon
Rıdvan Çağlar Mutlu  ·  2514216055
Bilgisayar Programcılığı 2. Sınıf  ·  Yazılım Testi  ·  18 Ekim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1264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C45C26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Projenin teslim kapsamı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EFE4"/>
                </a:solidFill>
                <a:latin typeface="Calibri"/>
              </a:rPr>
              <a:t>Kampüs Kırtasiye  ·  Yazılım Testi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45C26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B2430"/>
                </a:solidFill>
                <a:latin typeface="Calibri"/>
              </a:rPr>
              <a:t>▸  Kaynak kod: PHP, HTML ve CSS (Kampüs Kırtasiye)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B2430"/>
                </a:solidFill>
                <a:latin typeface="Calibri"/>
              </a:rPr>
              <a:t>▸  Çalışan site: http://localhost/kampus-kirtasiye/v2/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B2430"/>
                </a:solidFill>
                <a:latin typeface="Calibri"/>
              </a:rPr>
              <a:t>▸  Hatalı karşılaştırma sürümü: http://localhost/kampus-kirtasiye/v1/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B2430"/>
                </a:solidFill>
                <a:latin typeface="Calibri"/>
              </a:rPr>
              <a:t>▸  Test uygulaması: Playwright (1 worker, 0 retry)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B2430"/>
                </a:solidFill>
                <a:latin typeface="Calibri"/>
              </a:rPr>
              <a:t>▸  Teslim: site, test kodu, V1/V2 sonuçları ve bu sunum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Kampüs Kırtasiye uygulaması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EFE4"/>
                </a:solidFill>
                <a:latin typeface="Calibri"/>
              </a:rPr>
              <a:t>Kampüs Kırtasiye  ·  Yazılım Testi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45C26"/>
                </a:solidFill>
                <a:latin typeface="Calibri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828800"/>
            <a:ext cx="274320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828800"/>
            <a:ext cx="2743200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945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544"/>
                </a:solidFill>
                <a:latin typeface="Calibri"/>
              </a:rPr>
              <a:t>6 ürün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918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54C"/>
                </a:solidFill>
                <a:latin typeface="Calibri"/>
              </a:rPr>
              <a:t>Kırtasiye + küçük elektronik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828800"/>
            <a:ext cx="274320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828800"/>
            <a:ext cx="2743200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1945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544"/>
                </a:solidFill>
                <a:latin typeface="Calibri"/>
              </a:rPr>
              <a:t>Giriş ve sepet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2918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54C"/>
                </a:solidFill>
                <a:latin typeface="Calibri"/>
              </a:rPr>
              <a:t>ridvan / Defter2026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828800"/>
            <a:ext cx="274320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828800"/>
            <a:ext cx="2743200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1945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544"/>
                </a:solidFill>
                <a:latin typeface="Calibri"/>
              </a:rPr>
              <a:t>Teslimat formu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2918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54C"/>
                </a:solidFill>
                <a:latin typeface="Calibri"/>
              </a:rPr>
              <a:t>10 haneli telefon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1828800"/>
            <a:ext cx="274320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1828800"/>
            <a:ext cx="2743200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21945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544"/>
                </a:solidFill>
                <a:latin typeface="Calibri"/>
              </a:rPr>
              <a:t>Demo sipariş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2918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54C"/>
                </a:solidFill>
                <a:latin typeface="Calibri"/>
              </a:rPr>
              <a:t>Gerçek ödeme yok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XAMPP ve uygulama mimarisi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EFE4"/>
                </a:solidFill>
                <a:latin typeface="Calibri"/>
              </a:rPr>
              <a:t>Kampüs Kırtasiye  ·  Yazılım Testi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45C26"/>
                </a:solidFill>
                <a:latin typeface="Calibr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B2430"/>
                </a:solidFill>
                <a:latin typeface="Calibri"/>
              </a:rPr>
              <a:t>▸  Kurulum: C:/xampp/htdocs/kampus-kirtasiye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B2430"/>
                </a:solidFill>
                <a:latin typeface="Calibri"/>
              </a:rPr>
              <a:t>▸  Sunucu: Apache + PHP 8  (bu ortamda PHP 8.3 ile doğrulandı)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B2430"/>
                </a:solidFill>
                <a:latin typeface="Calibri"/>
              </a:rPr>
              <a:t>▸  Veri: Ürünler PHP dizisinde, sepet $_SESSION içinde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B2430"/>
                </a:solidFill>
                <a:latin typeface="Calibri"/>
              </a:rPr>
              <a:t>▸  Para: Fiyatlar kuruş (int). Teslimat her zaman 14,90 TL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B2430"/>
                </a:solidFill>
                <a:latin typeface="Calibri"/>
              </a:rPr>
              <a:t>▸  Akış: Tarayıcı isteği → Apache/PHP → HTML yanıtı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Test kuralları ve bitirme ölçütü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EFE4"/>
                </a:solidFill>
                <a:latin typeface="Calibri"/>
              </a:rPr>
              <a:t>Kampüs Kırtasiye  ·  Yazılım Testi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45C26"/>
                </a:solidFill>
                <a:latin typeface="Calibr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B2430"/>
                </a:solidFill>
                <a:latin typeface="Calibri"/>
              </a:rPr>
              <a:t>▸  Giriş: Doğru bilgi kabul, hatalı / kilitli hesap ret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B2430"/>
                </a:solidFill>
                <a:latin typeface="Calibri"/>
              </a:rPr>
              <a:t>▸  Sepet: Doğru ürün, adet, ara toplam ve teslimat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B2430"/>
                </a:solidFill>
                <a:latin typeface="Calibri"/>
              </a:rPr>
              <a:t>▸  Form: Ad, soyad zorunlu; telefon tam 10 rakam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B2430"/>
                </a:solidFill>
                <a:latin typeface="Calibri"/>
              </a:rPr>
              <a:t>▸  Sipariş: Boş sepet teslimata geçemez; ürünlü sepet geçer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B2430"/>
                </a:solidFill>
                <a:latin typeface="Calibri"/>
              </a:rPr>
              <a:t>▸  Filtre: Kırtasiye kategorisi yalnızca 4 ürün göstermelidir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Test teknikleri ve test verileri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EFE4"/>
                </a:solidFill>
                <a:latin typeface="Calibri"/>
              </a:rPr>
              <a:t>Kampüs Kırtasiye  ·  Yazılım Testi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45C26"/>
                </a:solidFill>
                <a:latin typeface="Calibri"/>
              </a:rPr>
              <a:t>06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188720"/>
          <a:ext cx="113385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76809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Teknik</a:t>
                      </a:r>
                    </a:p>
                  </a:txBody>
                  <a:tcPr>
                    <a:solidFill>
                      <a:srgbClr val="16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Girdi</a:t>
                      </a:r>
                    </a:p>
                  </a:txBody>
                  <a:tcPr>
                    <a:solidFill>
                      <a:srgbClr val="16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Beklenti</a:t>
                      </a:r>
                    </a:p>
                  </a:txBody>
                  <a:tcPr>
                    <a:solidFill>
                      <a:srgbClr val="162544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Pozitif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ridvan / Defter2026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Giriş kabul, 6 ürün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Negatif test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Yanlış şifre / boş alan / mezun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Uyarı ve giriş engeli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Sınır komşuları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055512345 / 0555123456 / 05551234567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Ret / kabul / ret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Regresyon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Düzeltme sonrası aynı 15 test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Eski işlevler korunur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Senaryolar: Giriş ve raf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EFE4"/>
                </a:solidFill>
                <a:latin typeface="Calibri"/>
              </a:rPr>
              <a:t>Kampüs Kırtasiye  ·  Yazılım Testi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45C26"/>
                </a:solidFill>
                <a:latin typeface="Calibri"/>
              </a:rPr>
              <a:t>07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188720"/>
          <a:ext cx="113385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16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Senaryo</a:t>
                      </a:r>
                    </a:p>
                  </a:txBody>
                  <a:tcPr>
                    <a:solidFill>
                      <a:srgbClr val="16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Beklenen</a:t>
                      </a:r>
                    </a:p>
                  </a:txBody>
                  <a:tcPr>
                    <a:solidFill>
                      <a:srgbClr val="16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V1</a:t>
                      </a:r>
                    </a:p>
                  </a:txBody>
                  <a:tcPr>
                    <a:solidFill>
                      <a:srgbClr val="16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V2</a:t>
                      </a:r>
                    </a:p>
                  </a:txBody>
                  <a:tcPr>
                    <a:solidFill>
                      <a:srgbClr val="16254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T01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Boş giriş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Kullanıcı adı uyarısı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T02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Yanlış şifre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Giriş reddi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T03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Geçerli giriş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6 ürün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T04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Kırtasiye filtresi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4 ürün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Başarısız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T05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Defter ekleme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1 adet, 54,90 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Senaryolar: Sepet ve 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EFE4"/>
                </a:solidFill>
                <a:latin typeface="Calibri"/>
              </a:rPr>
              <a:t>Kampüs Kırtasiye  ·  Yazılım Testi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45C26"/>
                </a:solidFill>
                <a:latin typeface="Calibri"/>
              </a:rPr>
              <a:t>08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188720"/>
          <a:ext cx="113385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16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Senaryo</a:t>
                      </a:r>
                    </a:p>
                  </a:txBody>
                  <a:tcPr>
                    <a:solidFill>
                      <a:srgbClr val="16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Beklenen</a:t>
                      </a:r>
                    </a:p>
                  </a:txBody>
                  <a:tcPr>
                    <a:solidFill>
                      <a:srgbClr val="16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V1</a:t>
                      </a:r>
                    </a:p>
                  </a:txBody>
                  <a:tcPr>
                    <a:solidFill>
                      <a:srgbClr val="16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V2</a:t>
                      </a:r>
                    </a:p>
                  </a:txBody>
                  <a:tcPr>
                    <a:solidFill>
                      <a:srgbClr val="16254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T06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Defteri kaldır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0 ürün, 0,00 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T07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Boş teslimat formu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Ad uyarısı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T08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Kilitli hesap (mezun)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Giriş reddi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T09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Boş şifre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Şifre uyarısı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T10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Defter + USB + kargo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398,80 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Senaryolar: Sipariş ve sınırlar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EFE4"/>
                </a:solidFill>
                <a:latin typeface="Calibri"/>
              </a:rPr>
              <a:t>Kampüs Kırtasiye  ·  Yazılım Testi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45C26"/>
                </a:solidFill>
                <a:latin typeface="Calibri"/>
              </a:rPr>
              <a:t>09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188720"/>
          <a:ext cx="113385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16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Senaryo</a:t>
                      </a:r>
                    </a:p>
                  </a:txBody>
                  <a:tcPr>
                    <a:solidFill>
                      <a:srgbClr val="16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Beklenen</a:t>
                      </a:r>
                    </a:p>
                  </a:txBody>
                  <a:tcPr>
                    <a:solidFill>
                      <a:srgbClr val="16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V1</a:t>
                      </a:r>
                    </a:p>
                  </a:txBody>
                  <a:tcPr>
                    <a:solidFill>
                      <a:srgbClr val="16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V2</a:t>
                      </a:r>
                    </a:p>
                  </a:txBody>
                  <a:tcPr>
                    <a:solidFill>
                      <a:srgbClr val="16254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T11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10 haneli telefon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Sipariş tamamlandı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T12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Boş sepet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Teslimat engeli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Başarısız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T13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9 haneli telefon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Formda uyarı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T14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11 haneli telefon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Formda uyarı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T15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Çıkış sonrası raf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Giriş sayfası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Playwright yerel siteye nasıl bağlanır?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EFE4"/>
                </a:solidFill>
                <a:latin typeface="Calibri"/>
              </a:rPr>
              <a:t>Kampüs Kırtasiye  ·  Yazılım Testi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45C26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88720"/>
            <a:ext cx="11338560" cy="4114800"/>
          </a:xfrm>
          <a:prstGeom prst="roundRect">
            <a:avLst>
              <a:gd name="adj" fmla="val 8000"/>
            </a:avLst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25880"/>
            <a:ext cx="11018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4E8D0"/>
                </a:solidFill>
                <a:latin typeface="Consolas"/>
              </a:rPr>
              <a:t>use: {
  baseURL: 'http://localhost/kampus-kirtasiye/v2/',
  channel: 'chrome',
  viewport: { width: 1366, height: 900 },
  screenshot: 'only-on-failure',
  trace: 'retain-on-failure'
}
test.beforeEach(async ({ page }) =&gt; {
  await page.goto('index.php?sayfa=giris');
});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54C"/>
                </a:solidFill>
                <a:latin typeface="Calibri"/>
              </a:rPr>
              <a:t>Aynı 15 test V1 ve V2 üzerinde, 1 worker ve 0 retry ile çalıştı.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Giriş testi ve doğrulama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EFE4"/>
                </a:solidFill>
                <a:latin typeface="Calibri"/>
              </a:rPr>
              <a:t>Kampüs Kırtasiye  ·  Yazılım Testi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45C26"/>
                </a:solidFill>
                <a:latin typeface="Calibr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88720"/>
            <a:ext cx="11338560" cy="3291840"/>
          </a:xfrm>
          <a:prstGeom prst="roundRect">
            <a:avLst>
              <a:gd name="adj" fmla="val 8000"/>
            </a:avLst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25880"/>
            <a:ext cx="110185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4E8D0"/>
                </a:solidFill>
                <a:latin typeface="Consolas"/>
              </a:rPr>
              <a:t>test('T02 Yanlis sifre reddedilir', async ({ page }) =&gt; {
  await giris(page, 'ridvan', 'yanlis123');
  await expect(page.getByTestId('error'))
    .toHaveText('Kullanıcı adı veya şifre hatalı.');
  await expect(page).toHaveURL(/sayfa=giris/);
});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4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B2430"/>
                </a:solidFill>
                <a:latin typeface="Calibri"/>
              </a:rPr>
              <a:t>Tıklama işlemdir. expect, işlemin doğru sonuç verdiğini kontrol eder.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Kategori filtresini kodla kontrol etme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EFE4"/>
                </a:solidFill>
                <a:latin typeface="Calibri"/>
              </a:rPr>
              <a:t>Kampüs Kırtasiye  ·  Yazılım Testi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45C26"/>
                </a:solidFill>
                <a:latin typeface="Calibr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88720"/>
            <a:ext cx="11338560" cy="3474720"/>
          </a:xfrm>
          <a:prstGeom prst="roundRect">
            <a:avLst>
              <a:gd name="adj" fmla="val 8000"/>
            </a:avLst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25880"/>
            <a:ext cx="110185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4E8D0"/>
                </a:solidFill>
                <a:latin typeface="Consolas"/>
              </a:rPr>
              <a:t>await page.getByLabel('Kategori').selectOption('kirtasiye');
await expect(page).toHaveURL(/kategori=kirtasiye/);
await expect(page.getByTestId('product')).toHaveCount(4);
await expect(page.getByTestId('product-count'))
  .toHaveText('4 ürün listeleniyor');
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B2430"/>
                </a:solidFill>
                <a:latin typeface="Calibri"/>
              </a:rPr>
              <a:t>Filtre menüsünün durması yetmez; listelenen ürün sayısı da 4 olmalıdır.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Telefon: PHP kuralı ve sınır testi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EFE4"/>
                </a:solidFill>
                <a:latin typeface="Calibri"/>
              </a:rPr>
              <a:t>Kampüs Kırtasiye  ·  Yazılım Testi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45C26"/>
                </a:solidFill>
                <a:latin typeface="Calibr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88720"/>
            <a:ext cx="11338560" cy="3657600"/>
          </a:xfrm>
          <a:prstGeom prst="roundRect">
            <a:avLst>
              <a:gd name="adj" fmla="val 8000"/>
            </a:avLst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25880"/>
            <a:ext cx="110185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4E8D0"/>
                </a:solidFill>
                <a:latin typeface="Consolas"/>
              </a:rPr>
              <a:t>// PHP: teslimat formu
if (!preg_match('/^[0-9]{10}$/D', $telefon)) {
    $error = 'Telefon numarası 10 rakamdan oluşmalıdır.';
}
// Playwright: üst sınırın komşusu
await bilgileriGir(page, '05551234567');
await expect(page.getByTestId('error'))
  .toHaveText('Telefon numarası 10 rakamdan oluşmalıdır.');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45C26"/>
                </a:solidFill>
                <a:latin typeface="Calibri"/>
              </a:rPr>
              <a:t>9 hane: ret  /  10 hane: kabul  /  11 hane: ret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Para hesabı: Tam sayı kuruş + teslimat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EFE4"/>
                </a:solidFill>
                <a:latin typeface="Calibri"/>
              </a:rPr>
              <a:t>Kampüs Kırtasiye  ·  Yazılım Testi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45C26"/>
                </a:solidFill>
                <a:latin typeface="Calibr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88720"/>
            <a:ext cx="11338560" cy="3840480"/>
          </a:xfrm>
          <a:prstGeom prst="roundRect">
            <a:avLst>
              <a:gd name="adj" fmla="val 8000"/>
            </a:avLst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25880"/>
            <a:ext cx="110185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4E8D0"/>
                </a:solidFill>
                <a:latin typeface="Consolas"/>
              </a:rPr>
              <a:t>// PHP ürün kataloğu
1 =&gt; ['ad' =&gt; 'A4 Spiralli Defter', 'fiyat' =&gt; 5490],
4 =&gt; ['ad' =&gt; '64GB USB Bellek', 'fiyat' =&gt; 32900],
// teslimat_ucreti_kurus() = 1490
// Playwright: T10
expect(araToplam).toBe(5490 + 32900);   // 38390
expect(teslimat).toBe(1490);
expect(toplam).toBe(39880);
await expect(page.getByTestId('total')).toHaveText('398,80 TL');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45C26"/>
                </a:solidFill>
                <a:latin typeface="Calibri"/>
              </a:rPr>
              <a:t>5490 + 32900 + 1490 = 39880 kuruş = 398,80 TL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V1 sonuçları: İki başarısız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EFE4"/>
                </a:solidFill>
                <a:latin typeface="Calibri"/>
              </a:rPr>
              <a:t>Kampüs Kırtasiye  ·  Yazılım Testi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45C26"/>
                </a:solidFill>
                <a:latin typeface="Calibri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A1F1F"/>
                </a:solidFill>
                <a:latin typeface="Calibri"/>
              </a:rPr>
              <a:t>13 geçti / 2 başarısız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554C"/>
                </a:solidFill>
                <a:latin typeface="Calibri"/>
              </a:rPr>
              <a:t>T04 ve T12 düştü.
Diğer 13 senaryo yeşil.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280160"/>
            <a:ext cx="7315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B2430"/>
                </a:solidFill>
                <a:latin typeface="Calibri"/>
              </a:rPr>
              <a:t>▸  T04: kirtasiye seçeneği tarayıcıda oluşmadı (bozuk option).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B2430"/>
                </a:solidFill>
                <a:latin typeface="Calibri"/>
              </a:rPr>
              <a:t>▸  T12: 0 ürünle teslimat formu açıldı.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B2430"/>
                </a:solidFill>
                <a:latin typeface="Calibri"/>
              </a:rPr>
              <a:t>▸  Kanıt: hata metni, ekran görüntüsü ve trace.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B2430"/>
                </a:solidFill>
                <a:latin typeface="Calibri"/>
              </a:rPr>
              <a:t>▸  Süre ~34 sn; bunun bir bölümü T04’ün seçenek beklemesi.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H01: Yanlış kapanan option etiketi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EFE4"/>
                </a:solidFill>
                <a:latin typeface="Calibri"/>
              </a:rPr>
              <a:t>Kampüs Kırtasiye  ·  Yazılım Testi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45C26"/>
                </a:solidFill>
                <a:latin typeface="Calibri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88720"/>
            <a:ext cx="11338560" cy="3657600"/>
          </a:xfrm>
          <a:prstGeom prst="roundRect">
            <a:avLst>
              <a:gd name="adj" fmla="val 8000"/>
            </a:avLst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25880"/>
            <a:ext cx="110185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4E8D0"/>
                </a:solidFill>
                <a:latin typeface="Consolas"/>
              </a:rPr>
              <a:t>&lt;!-- V1: kırtasiye seçeneği açılmıyor --&gt;
&lt;/option value="kirtasiye"&gt;Yalnız kırtasiye
&lt;!-- V2: önceki seçenek kapanır, yenisi açılır --&gt;
&lt;option value="kirtasiye"&gt;Yalnız kırtasiye&lt;/option&gt;
// Değişmeyen test adımı
await page.getByLabel('Kategori').selectOption('kirtasiye');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2544"/>
                </a:solidFill>
                <a:latin typeface="Calibri"/>
              </a:rPr>
              <a:t>V1: T04 başarısız  /  HTML düzeltmesinden sonra V2: T04 geçti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H02: Boş sepetle teslimat formuna geçiş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EFE4"/>
                </a:solidFill>
                <a:latin typeface="Calibri"/>
              </a:rPr>
              <a:t>Kampüs Kırtasiye  ·  Yazılım Testi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45C26"/>
                </a:solidFill>
                <a:latin typeface="Calibri"/>
              </a:rPr>
              <a:t>17</a:t>
            </a:r>
          </a:p>
        </p:txBody>
      </p:sp>
      <p:pic>
        <p:nvPicPr>
          <p:cNvPr id="9" name="Picture 8" descr="v1-bos-teslim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5669280" cy="3749039"/>
          </a:xfrm>
          <a:prstGeom prst="rect">
            <a:avLst/>
          </a:prstGeom>
        </p:spPr>
      </p:pic>
      <p:pic>
        <p:nvPicPr>
          <p:cNvPr id="10" name="Picture 9" descr="sepet-bos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43000"/>
            <a:ext cx="5669280" cy="37490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49834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A1F1F"/>
                </a:solidFill>
                <a:latin typeface="Calibri"/>
              </a:rPr>
              <a:t>V1: Teslimat formu açıldı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49834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F6B4F"/>
                </a:solidFill>
                <a:latin typeface="Calibri"/>
              </a:rPr>
              <a:t>V2: Sepette kalınır, uyarı çıkar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H02 düzeltmesi: PHP tarafında kontrol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EFE4"/>
                </a:solidFill>
                <a:latin typeface="Calibri"/>
              </a:rPr>
              <a:t>Kampüs Kırtasiye  ·  Yazılım Testi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45C26"/>
                </a:solidFill>
                <a:latin typeface="Calibri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88720"/>
            <a:ext cx="11338560" cy="3840480"/>
          </a:xfrm>
          <a:prstGeom prst="roundRect">
            <a:avLst>
              <a:gd name="adj" fmla="val 8000"/>
            </a:avLst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25880"/>
            <a:ext cx="110185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4E8D0"/>
                </a:solidFill>
                <a:latin typeface="Consolas"/>
              </a:rPr>
              <a:t>if (in_array($sayfa, ['teslimat', 'onay'], true)
    &amp;&amp; sepet_adet() === 0) {
    flash('Sepetiniz boş. Teslimata geçmeden önce bir ürün ekleyin.');
    git('sepet');
}
// Aynı kontrol teslimata_gec ve siparis POST işlemine de eklendi.
// Kontrol yalnızca tarayıcı düğmesine bırakılmadı.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430"/>
                </a:solidFill>
                <a:latin typeface="Calibri"/>
              </a:rPr>
              <a:t>Düzeltme site kodunda yapıldı; testin beklediği sonuç korunarak yeniden çalıştırıldı.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T12: Düzeltmeyi aynı testle doğrulama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EFE4"/>
                </a:solidFill>
                <a:latin typeface="Calibri"/>
              </a:rPr>
              <a:t>Kampüs Kırtasiye  ·  Yazılım Testi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45C26"/>
                </a:solidFill>
                <a:latin typeface="Calibri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88720"/>
            <a:ext cx="11338560" cy="3931920"/>
          </a:xfrm>
          <a:prstGeom prst="roundRect">
            <a:avLst>
              <a:gd name="adj" fmla="val 8000"/>
            </a:avLst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25880"/>
            <a:ext cx="110185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4E8D0"/>
                </a:solidFill>
                <a:latin typeface="Consolas"/>
              </a:rPr>
              <a:t>await giris(page);
await page.getByTestId('cart-link').click();
await expect(page.getByTestId('cart-item')).toHaveCount(0);
await page.getByTestId('checkout').click();
await expect(page).toHaveURL(/sayfa=sepet/);
await expect(page.getByTestId('error'))
  .toHaveText('Sepetiniz boş. Teslimata geçmeden önce bir ürün ekleyin.');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544"/>
                </a:solidFill>
                <a:latin typeface="Calibri"/>
              </a:rPr>
              <a:t>Aynı adımlar + aynı beklenti + düzeltilmiş site = başarılı yeniden test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V2 ve regresyon sonuçları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EFE4"/>
                </a:solidFill>
                <a:latin typeface="Calibri"/>
              </a:rPr>
              <a:t>Kampüs Kırtasiye  ·  Yazılım Testi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45C26"/>
                </a:solidFill>
                <a:latin typeface="Calibri"/>
              </a:rPr>
              <a:t>20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188720"/>
          <a:ext cx="113385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7315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Koşu</a:t>
                      </a:r>
                    </a:p>
                  </a:txBody>
                  <a:tcPr>
                    <a:solidFill>
                      <a:srgbClr val="16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16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Başarısız</a:t>
                      </a:r>
                    </a:p>
                  </a:txBody>
                  <a:tcPr>
                    <a:solidFill>
                      <a:srgbClr val="16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Süre</a:t>
                      </a:r>
                    </a:p>
                  </a:txBody>
                  <a:tcPr>
                    <a:solidFill>
                      <a:srgbClr val="16254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V1 ilk sürüm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33,9 sn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V2 düzeltilmiş sürüm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7,8 sn</a:t>
                      </a:r>
                    </a:p>
                  </a:txBody>
                  <a:tcPr>
                    <a:solidFill>
                      <a:srgbClr val="EBE4D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Aynı paket, ayrı koşu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Tekrar yeşil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572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54C"/>
                </a:solidFill>
                <a:latin typeface="Calibri"/>
              </a:rPr>
              <a:t>Süre farkı performans testi sonucu değildir; V1, T04’te seçeneği beklerken zaman kaybeder.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Uygulama kanıtı: raf ve teslimat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EFE4"/>
                </a:solidFill>
                <a:latin typeface="Calibri"/>
              </a:rPr>
              <a:t>Kampüs Kırtasiye  ·  Yazılım Testi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45C26"/>
                </a:solidFill>
                <a:latin typeface="Calibri"/>
              </a:rPr>
              <a:t>21</a:t>
            </a:r>
          </a:p>
        </p:txBody>
      </p:sp>
      <p:pic>
        <p:nvPicPr>
          <p:cNvPr id="9" name="Picture 8" descr="r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7589520" cy="5029200"/>
          </a:xfrm>
          <a:prstGeom prst="rect">
            <a:avLst/>
          </a:prstGeom>
        </p:spPr>
      </p:pic>
      <p:pic>
        <p:nvPicPr>
          <p:cNvPr id="10" name="Picture 9" descr="teslim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0"/>
            <a:ext cx="3840480" cy="2514600"/>
          </a:xfrm>
          <a:prstGeom prst="rect">
            <a:avLst/>
          </a:prstGeom>
        </p:spPr>
      </p:pic>
      <p:pic>
        <p:nvPicPr>
          <p:cNvPr id="11" name="Picture 10" descr="sepet-uru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3703320"/>
            <a:ext cx="384048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Derste canlı gösterim sırası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EFE4"/>
                </a:solidFill>
                <a:latin typeface="Calibri"/>
              </a:rPr>
              <a:t>Kampüs Kırtasiye  ·  Yazılım Testi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45C26"/>
                </a:solidFill>
                <a:latin typeface="Calibri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B2430"/>
                </a:solidFill>
                <a:latin typeface="Calibri"/>
              </a:rPr>
              <a:t>1. XAMPP: Apache açık, V1 ve V2 adreslerine giriş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77439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146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B2430"/>
                </a:solidFill>
                <a:latin typeface="Calibri"/>
              </a:rPr>
              <a:t>2. PLAYWRIGHT_AC.cmd: testleri V2 üzerinde başlat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7472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61188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B2430"/>
                </a:solidFill>
                <a:latin typeface="Calibri"/>
              </a:rPr>
              <a:t>3. İlk rapor (V1): T04 ve T12 başarısızlığını göster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7200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709159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B2430"/>
                </a:solidFill>
                <a:latin typeface="Calibri"/>
              </a:rPr>
              <a:t>4. Son rapor ve kod: HTML option + PHP sepet kontrolünü karşılaştır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Kapsam, sınırlamalar ve kaynaklar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EFE4"/>
                </a:solidFill>
                <a:latin typeface="Calibri"/>
              </a:rPr>
              <a:t>Kampüs Kırtasiye  ·  Yazılım Testi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45C26"/>
                </a:solidFill>
                <a:latin typeface="Calibr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B2430"/>
                </a:solidFill>
                <a:latin typeface="Calibri"/>
              </a:rPr>
              <a:t>▸  15/15 sonuç yalnızca seçilen test kapsamını gösterir.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B2430"/>
                </a:solidFill>
                <a:latin typeface="Calibri"/>
              </a:rPr>
              <a:t>▸  Yük, kapsamlı güvenlik ve mobil testleri yapılmadı.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B2430"/>
                </a:solidFill>
                <a:latin typeface="Calibri"/>
              </a:rPr>
              <a:t>▸  Kampüs Sepeti’nden fark: kırtasiye rafı, kategori filtresi, 10 haneli telefon, 14,90 TL kargo.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B2430"/>
                </a:solidFill>
                <a:latin typeface="Calibri"/>
              </a:rPr>
              <a:t>▸  Teori: Dersin verdiği yazılım testi kaynakları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B2430"/>
                </a:solidFill>
                <a:latin typeface="Calibri"/>
              </a:rPr>
              <a:t>▸  Teknik: Playwright, PHP ve XAMPP resmî belgeleri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