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6E4F"/>
                </a:solidFill>
                <a:latin typeface="Calibri"/>
              </a:rPr>
              <a:t>YAZILIM TESTİ DERSİ  ·  İKİ PARÇA TESLİM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Önce web sitesi.
Sonra onu test eden uygulama.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7F3EA"/>
                </a:solidFill>
                <a:latin typeface="Calibri"/>
              </a:rPr>
              <a:t>Kampüs Kırtasiye  +  Test uygulaması (Playwright)
Kuram: İTÜ BİDB Yazılım Testi ve Test Süreçleri  ·  TechTarget Software testing
Rıdvan Çağlar Mutlu  ·  2514216055  ·  18 Ekim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1264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0B6E4F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841248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Teslim neyden oluşur?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7F3EA"/>
                </a:solidFill>
                <a:latin typeface="Calibri"/>
              </a:rPr>
              <a:t>Kampüs Kırtasiye  ·  İTÜ BİDB + TechTarget  ·  Rıdvan Çağlar Mutlu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B6E4F"/>
                </a:solidFill>
                <a:latin typeface="Calibri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188720"/>
            <a:ext cx="1124712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2A3D"/>
                </a:solidFill>
                <a:latin typeface="Calibri"/>
              </a:rPr>
              <a:t>1. Web sitesi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8288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D5C58"/>
                </a:solidFill>
                <a:latin typeface="Calibri"/>
              </a:rPr>
              <a:t>Kampüs Kırtasiye: giriş, 6 ürün, sepet, 10 haneli telefon, demo sipariş. V2 teslim, V1 hata kanıtı.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834640"/>
            <a:ext cx="1124712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01752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2A3D"/>
                </a:solidFill>
                <a:latin typeface="Calibri"/>
              </a:rPr>
              <a:t>2. Test uygulaması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4747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D5C58"/>
                </a:solidFill>
                <a:latin typeface="Calibri"/>
              </a:rPr>
              <a:t>Hazırlık, 15 senaryo, V1/V2 sonuç, Playwright otomasyonu. Siteyi tarayıcıdan dener.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480560"/>
            <a:ext cx="1124712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66344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2A3D"/>
                </a:solidFill>
                <a:latin typeface="Calibri"/>
              </a:rPr>
              <a:t>3. Bu sunum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12064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D5C58"/>
                </a:solidFill>
                <a:latin typeface="Calibri"/>
              </a:rPr>
              <a:t>İTÜ sürecini (hazırlık → dinamik test → sonlandırma) kendi sitemize bağlar.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841248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İTÜ BİDB: Test nedir?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7F3EA"/>
                </a:solidFill>
                <a:latin typeface="Calibri"/>
              </a:rPr>
              <a:t>Kampüs Kırtasiye  ·  İTÜ BİDB + TechTarget  ·  Rıdvan Çağlar Mutlu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B6E4F"/>
                </a:solidFill>
                <a:latin typeface="Calibr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12202B"/>
                </a:solidFill>
                <a:latin typeface="Calibri"/>
              </a:rPr>
              <a:t>▸  Test: sistemi elle veya otomatik deneyerek gereksinimi doğrulamak, ya da beklenen ile gözlenen farkı bulmak.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2202B"/>
                </a:solidFill>
                <a:latin typeface="Calibri"/>
              </a:rPr>
              <a:t>▸  Yazılım testi: sonsuz çalışma alanından sınırlı ve uygun senaryolar seçerek dinamik doğrulama yapmak.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2202B"/>
                </a:solidFill>
                <a:latin typeface="Calibri"/>
              </a:rPr>
              <a:t>▸  Kaliteli yazılım: kabul edilebilir hatasız, bütçe ve zamanda biten, gereksinimi karşılayan, sürdürülebilir.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2202B"/>
                </a:solidFill>
                <a:latin typeface="Calibri"/>
              </a:rPr>
              <a:t>▸  Bu derste beklenen: giriş kabul/ret, 4 ürün filtresi, 398,80 TL, 10 haneli telefon, boş sepet yasağı.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841248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İTÜ: Test neden yapılır?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7F3EA"/>
                </a:solidFill>
                <a:latin typeface="Calibri"/>
              </a:rPr>
              <a:t>Kampüs Kırtasiye  ·  İTÜ BİDB + TechTarget  ·  Rıdvan Çağlar Mutlu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B6E4F"/>
                </a:solidFill>
                <a:latin typeface="Calibr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12202B"/>
                </a:solidFill>
                <a:latin typeface="Calibri"/>
              </a:rPr>
              <a:t>▸  Yazılımdaki hatalar kaçınılmazdır; sonuç para, zaman veya güven kaybı olabilir.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2202B"/>
                </a:solidFill>
                <a:latin typeface="Calibri"/>
              </a:rPr>
              <a:t>▸  Müşteriye (burada öğretmene) vermeden kaliteden emin olmak.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2202B"/>
                </a:solidFill>
                <a:latin typeface="Calibri"/>
              </a:rPr>
              <a:t>▸  Hatayı erken yakalamak: V1’de T04 ve T12 bulundu, V2’de kapatıldı.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2202B"/>
                </a:solidFill>
                <a:latin typeface="Calibri"/>
              </a:rPr>
              <a:t>▸  Yeniden iş ve düzeltme maliyetini düşürmek.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2202B"/>
                </a:solidFill>
                <a:latin typeface="Calibri"/>
              </a:rPr>
              <a:t>▸  TechTarget aynı gerekçeyi Starbucks kasa çökmesi ve Nissan hava yastığı örneğiyle anlatır.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841248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İTÜ test süreci: üç aşama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7F3EA"/>
                </a:solidFill>
                <a:latin typeface="Calibri"/>
              </a:rPr>
              <a:t>Kampüs Kırtasiye  ·  İTÜ BİDB + TechTarget  ·  Rıdvan Çağlar Mutlu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B6E4F"/>
                </a:solidFill>
                <a:latin typeface="Calibri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280160"/>
            <a:ext cx="3703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08760"/>
            <a:ext cx="3246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6E4F"/>
                </a:solidFill>
                <a:latin typeface="Calibri"/>
              </a:rPr>
              <a:t>1. Hazırlık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77440"/>
            <a:ext cx="3246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2202B"/>
                </a:solidFill>
                <a:latin typeface="Calibri"/>
              </a:rPr>
              <a:t>Doküman, kapsam, risk, ortam, görev, bitirme ölçütü, test case, test planı.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280160"/>
            <a:ext cx="3703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508760"/>
            <a:ext cx="3246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6E4F"/>
                </a:solidFill>
                <a:latin typeface="Calibri"/>
              </a:rPr>
              <a:t>2. Dinamik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377440"/>
            <a:ext cx="3246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2202B"/>
                </a:solidFill>
                <a:latin typeface="Calibri"/>
              </a:rPr>
              <a:t>Kod çalışırken birim, tümleyim, regresyon, performans, kabul, kara/beyaz kutu.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280160"/>
            <a:ext cx="3703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1508760"/>
            <a:ext cx="3246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6E4F"/>
                </a:solidFill>
                <a:latin typeface="Calibri"/>
              </a:rPr>
              <a:t>3. Sonlandırma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377440"/>
            <a:ext cx="3246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2202B"/>
                </a:solidFill>
                <a:latin typeface="Calibri"/>
              </a:rPr>
              <a:t>Ölçüt sağlandı mı? Hatalar kapandı mı? Kabul testine açılır mı?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841248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TechTarget: Yazılım testi nedir, neden önemli?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7F3EA"/>
                </a:solidFill>
                <a:latin typeface="Calibri"/>
              </a:rPr>
              <a:t>Kampüs Kırtasiye  ·  İTÜ BİDB + TechTarget  ·  Rıdvan Çağlar Mutlu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B6E4F"/>
                </a:solidFill>
                <a:latin typeface="Calibr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12202B"/>
                </a:solidFill>
                <a:latin typeface="Calibri"/>
              </a:rPr>
              <a:t>▸  İşlevi değerlendirmek: hata, boşluk ve beklenen sonuç uyuşmazlığını aramak.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2202B"/>
                </a:solidFill>
                <a:latin typeface="Calibri"/>
              </a:rPr>
              <a:t>▸  Canlıya çıkmadan hata düzeltmek: kalite, güven ve maliyet.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2202B"/>
                </a:solidFill>
                <a:latin typeface="Calibri"/>
              </a:rPr>
              <a:t>▸  Erken hata = ucuz hata. Biz T04/T12’yi teslimden önce yakaladık.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2202B"/>
                </a:solidFill>
                <a:latin typeface="Calibri"/>
              </a:rPr>
              <a:t>▸  Otomasyon: aynı senaryoyu tekrar tekrar koşmak (Playwright).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2202B"/>
                </a:solidFill>
                <a:latin typeface="Calibri"/>
              </a:rPr>
              <a:t>▸  Regresyon atlanmamalı: düzeltme eski 13 senaryoyu bozmamalı.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841248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Test türleri: kaynakta var, biz hangisini yaptık?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7F3EA"/>
                </a:solidFill>
                <a:latin typeface="Calibri"/>
              </a:rPr>
              <a:t>Kampüs Kırtasiye  ·  İTÜ BİDB + TechTarget  ·  Rıdvan Çağlar Mutlu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B6E4F"/>
                </a:solidFill>
                <a:latin typeface="Calibri"/>
              </a:rPr>
              <a:t>07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1430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6792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Tür (kaynak)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Bu projede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Kanıt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Kara kutu / fonksiyonel (İTÜ + TechTarget)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Evet, asıl yöntem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15 Playwright senaryosu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Beyaz kutu (İTÜ)</a:t>
                      </a:r>
                    </a:p>
                  </a:txBody>
                  <a:tcPr>
                    <a:solidFill>
                      <a:srgbClr val="DCE8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Kısmen</a:t>
                      </a:r>
                    </a:p>
                  </a:txBody>
                  <a:tcPr>
                    <a:solidFill>
                      <a:srgbClr val="DCE8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Bozuk option ve PHP if incelendi</a:t>
                      </a:r>
                    </a:p>
                  </a:txBody>
                  <a:tcPr>
                    <a:solidFill>
                      <a:srgbClr val="DCE8E3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Tümleyim (İTÜ / TechTarget)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Evet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Giriş + sepet + form birlikte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Regresyon</a:t>
                      </a:r>
                    </a:p>
                  </a:txBody>
                  <a:tcPr>
                    <a:solidFill>
                      <a:srgbClr val="DCE8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Evet</a:t>
                      </a:r>
                    </a:p>
                  </a:txBody>
                  <a:tcPr>
                    <a:solidFill>
                      <a:srgbClr val="DCE8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Aynı 15 test V2’de yeniden</a:t>
                      </a:r>
                    </a:p>
                  </a:txBody>
                  <a:tcPr>
                    <a:solidFill>
                      <a:srgbClr val="DCE8E3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Kabul (UAT)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Ders ölçütü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15/15 ve canlı gösterim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Birim / performans / güvenlik</a:t>
                      </a:r>
                    </a:p>
                  </a:txBody>
                  <a:tcPr>
                    <a:solidFill>
                      <a:srgbClr val="DCE8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Hayır</a:t>
                      </a:r>
                    </a:p>
                  </a:txBody>
                  <a:tcPr>
                    <a:solidFill>
                      <a:srgbClr val="DCE8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Kapsam dışı, slayt 22</a:t>
                      </a:r>
                    </a:p>
                  </a:txBody>
                  <a:tcPr>
                    <a:solidFill>
                      <a:srgbClr val="DCE8E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841248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Hazırlık: ne test edilir, ne edilmez?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7F3EA"/>
                </a:solidFill>
                <a:latin typeface="Calibri"/>
              </a:rPr>
              <a:t>Kampüs Kırtasiye  ·  İTÜ BİDB + TechTarget  ·  Rıdvan Çağlar Mutlu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B6E4F"/>
                </a:solidFill>
                <a:latin typeface="Calibr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12202B"/>
                </a:solidFill>
                <a:latin typeface="Calibri"/>
              </a:rPr>
              <a:t>▸  Edilecek: giriş, kilitli hesap, 6 ürün, kırtasiye filtresi.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2202B"/>
                </a:solidFill>
                <a:latin typeface="Calibri"/>
              </a:rPr>
              <a:t>▸  Edilecek: sepet adedi, 14,90 TL kargo, 398,80 TL.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2202B"/>
                </a:solidFill>
                <a:latin typeface="Calibri"/>
              </a:rPr>
              <a:t>▸  Edilecek: 9 / 10 / 11 haneli telefon.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2202B"/>
                </a:solidFill>
                <a:latin typeface="Calibri"/>
              </a:rPr>
              <a:t>▸  Edilecek: boş sepet yasağı, çıkış sonrası koruma.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14300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12202B"/>
                </a:solidFill>
                <a:latin typeface="Calibri"/>
              </a:rPr>
              <a:t>▸  Edilmeyecek: yük / performans testi.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2202B"/>
                </a:solidFill>
                <a:latin typeface="Calibri"/>
              </a:rPr>
              <a:t>▸  Edilmeyecek: sızma / XSS taraması.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2202B"/>
                </a:solidFill>
                <a:latin typeface="Calibri"/>
              </a:rPr>
              <a:t>▸  Edilmeyecek: mobil ve gerçek ödeme.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2202B"/>
                </a:solidFill>
                <a:latin typeface="Calibri"/>
              </a:rPr>
              <a:t>▸  Bitirme: V2’de 15/15, T04 ve T12 kapanmış.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841248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Parça 1 — Web sitesi: Kampüs Kırtasiye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7F3EA"/>
                </a:solidFill>
                <a:latin typeface="Calibri"/>
              </a:rPr>
              <a:t>Kampüs Kırtasiye  ·  İTÜ BİDB + TechTarget  ·  Rıdvan Çağlar Mutlu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B6E4F"/>
                </a:solidFill>
                <a:latin typeface="Calibri"/>
              </a:rPr>
              <a:t>09</a:t>
            </a:r>
          </a:p>
        </p:txBody>
      </p:sp>
      <p:pic>
        <p:nvPicPr>
          <p:cNvPr id="9" name="Picture 8" descr="tesl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675120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3760" y="118872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>
                <a:solidFill>
                  <a:srgbClr val="12202B"/>
                </a:solidFill>
                <a:latin typeface="Calibri"/>
              </a:rPr>
              <a:t>▸  Kapı sayfası iki parçayı ayırır.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2202B"/>
                </a:solidFill>
                <a:latin typeface="Calibri"/>
              </a:rPr>
              <a:t>▸  Site: /v2/  (teslim)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2202B"/>
                </a:solidFill>
                <a:latin typeface="Calibri"/>
              </a:rPr>
              <a:t>▸  Hatalı kanıt: /v1/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2202B"/>
                </a:solidFill>
                <a:latin typeface="Calibri"/>
              </a:rPr>
              <a:t>▸  Giriş: ridvan / Defter2026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841248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Sınanan uygulama: öğrenci rafı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7F3EA"/>
                </a:solidFill>
                <a:latin typeface="Calibri"/>
              </a:rPr>
              <a:t>Kampüs Kırtasiye  ·  İTÜ BİDB + TechTarget  ·  Rıdvan Çağlar Mutlu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B6E4F"/>
                </a:solidFill>
                <a:latin typeface="Calibri"/>
              </a:rPr>
              <a:t>10</a:t>
            </a:r>
          </a:p>
        </p:txBody>
      </p:sp>
      <p:pic>
        <p:nvPicPr>
          <p:cNvPr id="9" name="Picture 8" descr="r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1152144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841248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Parça 2 — Test uygulaması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7F3EA"/>
                </a:solidFill>
                <a:latin typeface="Calibri"/>
              </a:rPr>
              <a:t>Kampüs Kırtasiye  ·  İTÜ BİDB + TechTarget  ·  Rıdvan Çağlar Mutlu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B6E4F"/>
                </a:solidFill>
                <a:latin typeface="Calibri"/>
              </a:rPr>
              <a:t>11</a:t>
            </a:r>
          </a:p>
        </p:txBody>
      </p:sp>
      <p:pic>
        <p:nvPicPr>
          <p:cNvPr id="9" name="Picture 8" descr="test-sur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1152144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841248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Test case: girdi verilince çıktı ne olmalı?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7F3EA"/>
                </a:solidFill>
                <a:latin typeface="Calibri"/>
              </a:rPr>
              <a:t>Kampüs Kırtasiye  ·  İTÜ BİDB + TechTarget  ·  Rıdvan Çağlar Mutlu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B6E4F"/>
                </a:solidFill>
                <a:latin typeface="Calibri"/>
              </a:rPr>
              <a:t>12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14300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65314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Girdi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Beklenen çıktı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T02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ridvan / yanlis123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Şifre hatalı, sayfa=giris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T04</a:t>
                      </a:r>
                    </a:p>
                  </a:txBody>
                  <a:tcPr>
                    <a:solidFill>
                      <a:srgbClr val="DCE8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Kategori = kirtasiye</a:t>
                      </a:r>
                    </a:p>
                  </a:txBody>
                  <a:tcPr>
                    <a:solidFill>
                      <a:srgbClr val="DCE8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4 ürün listelenir</a:t>
                      </a:r>
                    </a:p>
                  </a:txBody>
                  <a:tcPr>
                    <a:solidFill>
                      <a:srgbClr val="DCE8E3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T10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Defter + USB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398,80 TL (383,90 + 14,90)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T11</a:t>
                      </a:r>
                    </a:p>
                  </a:txBody>
                  <a:tcPr>
                    <a:solidFill>
                      <a:srgbClr val="DCE8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0555123456</a:t>
                      </a:r>
                    </a:p>
                  </a:txBody>
                  <a:tcPr>
                    <a:solidFill>
                      <a:srgbClr val="DCE8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Sipariş tamamlanır</a:t>
                      </a:r>
                    </a:p>
                  </a:txBody>
                  <a:tcPr>
                    <a:solidFill>
                      <a:srgbClr val="DCE8E3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T12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0 ürün + Teslimata geç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Sepette kal, uyarı göster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T13 / T14</a:t>
                      </a:r>
                    </a:p>
                  </a:txBody>
                  <a:tcPr>
                    <a:solidFill>
                      <a:srgbClr val="DCE8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9 veya 11 hane</a:t>
                      </a:r>
                    </a:p>
                  </a:txBody>
                  <a:tcPr>
                    <a:solidFill>
                      <a:srgbClr val="DCE8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Telefon 10 rakam olmalıdır</a:t>
                      </a:r>
                    </a:p>
                  </a:txBody>
                  <a:tcPr>
                    <a:solidFill>
                      <a:srgbClr val="DCE8E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841248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Dinamik test: Playwright siteye nasıl bağlanır?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7F3EA"/>
                </a:solidFill>
                <a:latin typeface="Calibri"/>
              </a:rPr>
              <a:t>Kampüs Kırtasiye  ·  İTÜ BİDB + TechTarget  ·  Rıdvan Çağlar Mutlu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B6E4F"/>
                </a:solidFill>
                <a:latin typeface="Calibri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43000"/>
            <a:ext cx="11338560" cy="4206240"/>
          </a:xfrm>
          <a:prstGeom prst="roundRect">
            <a:avLst>
              <a:gd name="adj" fmla="val 8000"/>
            </a:avLst>
          </a:prstGeom>
          <a:solidFill>
            <a:srgbClr val="102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271016"/>
            <a:ext cx="11018520" cy="3986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E7F3EA"/>
                </a:solidFill>
                <a:latin typeface="Consolas"/>
              </a:rPr>
              <a:t>use: {
  baseURL: 'http://localhost/kampus-kirtasiye/v2/',
  viewport: { width: 1366, height: 900 },
  screenshot: 'only-on-failure',
  trace: 'retain-on-failure'
}
test.beforeEach(async ({ page }) =&gt; {
  await page.goto('index.php?sayfa=giris');
});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5321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D5C58"/>
                </a:solidFill>
                <a:latin typeface="Calibri"/>
              </a:rPr>
              <a:t>Aynı 15 test V1 ve V2’ye, 1 worker ve 0 retry ile koşuldu.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841248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Kara kutu örneği: tıkla, sonra expect et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7F3EA"/>
                </a:solidFill>
                <a:latin typeface="Calibri"/>
              </a:rPr>
              <a:t>Kampüs Kırtasiye  ·  İTÜ BİDB + TechTarget  ·  Rıdvan Çağlar Mutlu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B6E4F"/>
                </a:solidFill>
                <a:latin typeface="Calibr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43000"/>
            <a:ext cx="11338560" cy="3931920"/>
          </a:xfrm>
          <a:prstGeom prst="roundRect">
            <a:avLst>
              <a:gd name="adj" fmla="val 8000"/>
            </a:avLst>
          </a:prstGeom>
          <a:solidFill>
            <a:srgbClr val="102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271016"/>
            <a:ext cx="11018520" cy="3712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E7F3EA"/>
                </a:solidFill>
                <a:latin typeface="Consolas"/>
              </a:rPr>
              <a:t>test('T02 Yanlis sifre reddedilir', async ({ page }) =&gt; {
  await giris(page, 'ridvan', 'yanlis123');
  await expect(page.getByTestId('error'))
    .toHaveText('Kullanıcı adı veya şifre hatalı.');
  await expect(page).toHaveURL(/sayfa=giris/);
});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57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2202B"/>
                </a:solidFill>
                <a:latin typeface="Calibri"/>
              </a:rPr>
              <a:t>İşlem tıklamaktır. Doğrulama expect’tir. Kodun içini okumadan dışarıdan sınarız.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841248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V1 dinamik test: beklenen ≠ gözlenen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7F3EA"/>
                </a:solidFill>
                <a:latin typeface="Calibri"/>
              </a:rPr>
              <a:t>Kampüs Kırtasiye  ·  İTÜ BİDB + TechTarget  ·  Rıdvan Çağlar Mutlu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B6E4F"/>
                </a:solidFill>
                <a:latin typeface="Calibr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801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A61F2B"/>
                </a:solidFill>
                <a:latin typeface="Calibri"/>
              </a:rPr>
              <a:t>13 geçti / 2 kaldı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860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D5C58"/>
                </a:solidFill>
                <a:latin typeface="Calibri"/>
              </a:rPr>
              <a:t>T04 ve T12.
Süre 33,9 sn.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128016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12202B"/>
                </a:solidFill>
                <a:latin typeface="Calibri"/>
              </a:rPr>
              <a:t>▸  T04: kirtasiye seçeneği DOM’da yok (bozuk option).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2202B"/>
                </a:solidFill>
                <a:latin typeface="Calibri"/>
              </a:rPr>
              <a:t>▸  T12: boş sepet teslimat sayfasını açtı.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2202B"/>
                </a:solidFill>
                <a:latin typeface="Calibri"/>
              </a:rPr>
              <a:t>▸  İTÜ tanımı burada somut: fark bulundu, test durmadı.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2202B"/>
                </a:solidFill>
                <a:latin typeface="Calibri"/>
              </a:rPr>
              <a:t>▸  Kanıt: hata metni, ekran görüntüsü, trace.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841248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H01: HTML option (beyaz kutu inceleme)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7F3EA"/>
                </a:solidFill>
                <a:latin typeface="Calibri"/>
              </a:rPr>
              <a:t>Kampüs Kırtasiye  ·  İTÜ BİDB + TechTarget  ·  Rıdvan Çağlar Mutlu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B6E4F"/>
                </a:solidFill>
                <a:latin typeface="Calibr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43000"/>
            <a:ext cx="11338560" cy="4023360"/>
          </a:xfrm>
          <a:prstGeom prst="roundRect">
            <a:avLst>
              <a:gd name="adj" fmla="val 8000"/>
            </a:avLst>
          </a:prstGeom>
          <a:solidFill>
            <a:srgbClr val="102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271016"/>
            <a:ext cx="11018520" cy="3803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E7F3EA"/>
                </a:solidFill>
                <a:latin typeface="Consolas"/>
              </a:rPr>
              <a:t>&lt;!-- V1 --&gt;
&lt;/option value="kirtasiye"&gt;Yalnız kırtasiye
&lt;!-- V2 --&gt;
&lt;option value="kirtasiye"&gt;Yalnız kırtasiye&lt;/option&gt;
await page.getByLabel('Kategori').selectOption('kirtasiye');
await expect(page.getByTestId('product')).toHaveCount(4);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94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2202B"/>
                </a:solidFill>
                <a:latin typeface="Calibri"/>
              </a:rPr>
              <a:t>Kara kutu T04 düştü. Nedeni için HTML’e bakıldı. Düzeltme site kodunda.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841248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H02: Boş sepet — beklenen uyarı, gözlenen form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7F3EA"/>
                </a:solidFill>
                <a:latin typeface="Calibri"/>
              </a:rPr>
              <a:t>Kampüs Kırtasiye  ·  İTÜ BİDB + TechTarget  ·  Rıdvan Çağlar Mutlu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B6E4F"/>
                </a:solidFill>
                <a:latin typeface="Calibri"/>
              </a:rPr>
              <a:t>17</a:t>
            </a:r>
          </a:p>
        </p:txBody>
      </p:sp>
      <p:pic>
        <p:nvPicPr>
          <p:cNvPr id="9" name="Picture 8" descr="v1-bos-teslim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5760720" cy="3794760"/>
          </a:xfrm>
          <a:prstGeom prst="rect">
            <a:avLst/>
          </a:prstGeom>
        </p:spPr>
      </p:pic>
      <p:pic>
        <p:nvPicPr>
          <p:cNvPr id="10" name="Picture 9" descr="sepet-bos-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97280"/>
            <a:ext cx="5669280" cy="3794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502920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A61F2B"/>
                </a:solidFill>
                <a:latin typeface="Calibri"/>
              </a:rPr>
              <a:t>V1 gözlenen: teslimat açıldı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502920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7A4D"/>
                </a:solidFill>
                <a:latin typeface="Calibri"/>
              </a:rPr>
              <a:t>V2 gözlenen: sepet + uyarı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841248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Düzeltme sunucuda: kontrolü düğmeye bırakma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7F3EA"/>
                </a:solidFill>
                <a:latin typeface="Calibri"/>
              </a:rPr>
              <a:t>Kampüs Kırtasiye  ·  İTÜ BİDB + TechTarget  ·  Rıdvan Çağlar Mutlu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B6E4F"/>
                </a:solidFill>
                <a:latin typeface="Calibri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43000"/>
            <a:ext cx="11338560" cy="4023360"/>
          </a:xfrm>
          <a:prstGeom prst="roundRect">
            <a:avLst>
              <a:gd name="adj" fmla="val 8000"/>
            </a:avLst>
          </a:prstGeom>
          <a:solidFill>
            <a:srgbClr val="102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271016"/>
            <a:ext cx="11018520" cy="3803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E7F3EA"/>
                </a:solidFill>
                <a:latin typeface="Consolas"/>
              </a:rPr>
              <a:t>if (in_array($sayfa, ['teslimat', 'onay'], true)
    &amp;&amp; sepet_adet() === 0) {
    flash('Sepetiniz boş. Teslimata geçmeden önce bir ürün ekleyin.');
    git('sepet');
}
// teslimata_gec ve siparis POST’una da aynı kural eklendi.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94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2202B"/>
                </a:solidFill>
                <a:latin typeface="Calibri"/>
              </a:rPr>
              <a:t>TechTarget: hatayı teslimden önce kapat. İTÜ: dinamik test, hatalar çözülmeden bitmez.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841248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Regresyon: aynı 15 test, düzeltilmiş site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7F3EA"/>
                </a:solidFill>
                <a:latin typeface="Calibri"/>
              </a:rPr>
              <a:t>Kampüs Kırtasiye  ·  İTÜ BİDB + TechTarget  ·  Rıdvan Çağlar Mutlu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B6E4F"/>
                </a:solidFill>
                <a:latin typeface="Calibri"/>
              </a:rPr>
              <a:t>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143000"/>
          <a:ext cx="114300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7086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Koşu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Geçti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Kaldı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Süre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V1 dinamik 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33,9 sn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V2 regresyon</a:t>
                      </a:r>
                    </a:p>
                  </a:txBody>
                  <a:tcPr>
                    <a:solidFill>
                      <a:srgbClr val="DCE8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DCE8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DCE8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7,8 sn</a:t>
                      </a:r>
                    </a:p>
                  </a:txBody>
                  <a:tcPr>
                    <a:solidFill>
                      <a:srgbClr val="DCE8E3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Sonlandırma ölçütü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15/15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sağlandı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202B"/>
                          </a:solidFill>
                          <a:latin typeface="Calibri"/>
                        </a:rPr>
                        <a:t>V2 teslim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429768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D5C58"/>
                </a:solidFill>
                <a:latin typeface="Calibri"/>
              </a:rPr>
              <a:t>Süre farkı performans testi değildir. V1, T04’te olmayan seçeneği bekler.
Regresyonun anlamı: T04 ve T12 kapandı, diğer 13 senaryo bozulmadı.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841248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Test uygulamasındaki sonuç ekranı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7F3EA"/>
                </a:solidFill>
                <a:latin typeface="Calibri"/>
              </a:rPr>
              <a:t>Kampüs Kırtasiye  ·  İTÜ BİDB + TechTarget  ·  Rıdvan Çağlar Mutlu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B6E4F"/>
                </a:solidFill>
                <a:latin typeface="Calibri"/>
              </a:rPr>
              <a:t>20</a:t>
            </a:r>
          </a:p>
        </p:txBody>
      </p:sp>
      <p:pic>
        <p:nvPicPr>
          <p:cNvPr id="9" name="Picture 8" descr="test-son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1152144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841248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Derste canlı sıra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7F3EA"/>
                </a:solidFill>
                <a:latin typeface="Calibri"/>
              </a:rPr>
              <a:t>Kampüs Kırtasiye  ·  İTÜ BİDB + TechTarget  ·  Rıdvan Çağlar Mutlu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B6E4F"/>
                </a:solidFill>
                <a:latin typeface="Calibri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234440"/>
            <a:ext cx="1124712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2202B"/>
                </a:solidFill>
                <a:latin typeface="Calibri"/>
              </a:rPr>
              <a:t>1. http://localhost/kampus-kirtasiye/  → iki parçayı göster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423160"/>
            <a:ext cx="1124712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60604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2202B"/>
                </a:solidFill>
                <a:latin typeface="Calibri"/>
              </a:rPr>
              <a:t>2. Web sitesi V2: giriş, defter ekle, 398,80 TL, 10 haneli telefon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11880"/>
            <a:ext cx="1124712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7947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2202B"/>
                </a:solidFill>
                <a:latin typeface="Calibri"/>
              </a:rPr>
              <a:t>3. Test uygulaması: süreç, senaryo tablosu, V1/V2 sonuç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800600"/>
            <a:ext cx="1124712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98348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2202B"/>
                </a:solidFill>
                <a:latin typeface="Calibri"/>
              </a:rPr>
              <a:t>4. PLAYWRIGHT_AC.cmd: V1’de T04/T12, V2’de 15/15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841248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Sonlandırma, sınır ve kaynaklar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7F3EA"/>
                </a:solidFill>
                <a:latin typeface="Calibri"/>
              </a:rPr>
              <a:t>Kampüs Kırtasiye  ·  İTÜ BİDB + TechTarget  ·  Rıdvan Çağlar Mutlu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B6E4F"/>
                </a:solidFill>
                <a:latin typeface="Calibr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12202B"/>
                </a:solidFill>
                <a:latin typeface="Calibri"/>
              </a:rPr>
              <a:t>▸  Ölçüt sağlandı: V2 15/15, T04 ve T12 kapandı, regresyon yeşil.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2202B"/>
                </a:solidFill>
                <a:latin typeface="Calibri"/>
              </a:rPr>
              <a:t>▸  15/15 yalnızca seçilen kapsamı gösterir; ürünün ‘hatasız’ olduğu anlamına gelmez.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2202B"/>
                </a:solidFill>
                <a:latin typeface="Calibri"/>
              </a:rPr>
              <a:t>▸  Yük, güvenlik ve mobil test yapılmadı (İTÜ / TechTarget’de var, biz seçmedik).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2202B"/>
                </a:solidFill>
                <a:latin typeface="Calibri"/>
              </a:rPr>
              <a:t>▸  İTÜ BİDB: Yazılım Testi ve Test Süreçleri (2013).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2202B"/>
                </a:solidFill>
                <a:latin typeface="Calibri"/>
              </a:rPr>
              <a:t>▸  TechTarget: Software testing — definition, types and importance.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